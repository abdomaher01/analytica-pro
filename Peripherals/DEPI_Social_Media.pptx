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00" r:id="rId2"/>
    <p:sldId id="301" r:id="rId3"/>
    <p:sldId id="313" r:id="rId4"/>
    <p:sldId id="302" r:id="rId5"/>
    <p:sldId id="304" r:id="rId6"/>
    <p:sldId id="312" r:id="rId7"/>
    <p:sldId id="303" r:id="rId8"/>
    <p:sldId id="305" r:id="rId9"/>
    <p:sldId id="306" r:id="rId10"/>
    <p:sldId id="310" r:id="rId11"/>
    <p:sldId id="311" r:id="rId12"/>
    <p:sldId id="307" r:id="rId13"/>
    <p:sldId id="308" r:id="rId14"/>
    <p:sldId id="30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EA8"/>
    <a:srgbClr val="0FAB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000" b="1" dirty="0">
                <a:solidFill>
                  <a:srgbClr val="047954"/>
                </a:solidFill>
              </a:rPr>
              <a:t>Social Media Crisis Analytics </a:t>
            </a:r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solidFill>
                  <a:srgbClr val="336EA8"/>
                </a:solidFill>
              </a:rPr>
              <a:t>DEPI Graduation Project – Data Analytics Track</a:t>
            </a:r>
          </a:p>
          <a:p>
            <a:pPr marL="0" lvl="0" indent="0" algn="ctr" rtl="0">
              <a:spcBef>
                <a:spcPts val="1200"/>
              </a:spcBef>
              <a:buNone/>
            </a:pPr>
            <a:r>
              <a:rPr lang="en-US" sz="1600" dirty="0" err="1">
                <a:solidFill>
                  <a:schemeClr val="tx1"/>
                </a:solidFill>
              </a:rPr>
              <a:t>Progect</a:t>
            </a:r>
            <a:r>
              <a:rPr lang="en-US" sz="1600" dirty="0">
                <a:solidFill>
                  <a:schemeClr val="tx1"/>
                </a:solidFill>
              </a:rPr>
              <a:t> Team by: Omar Khaled &amp; </a:t>
            </a:r>
            <a:r>
              <a:rPr lang="en-US" sz="1600" dirty="0" err="1">
                <a:solidFill>
                  <a:schemeClr val="tx1"/>
                </a:solidFill>
              </a:rPr>
              <a:t>Abdalrahman</a:t>
            </a:r>
            <a:r>
              <a:rPr lang="en-US" sz="1600" dirty="0">
                <a:solidFill>
                  <a:schemeClr val="tx1"/>
                </a:solidFill>
              </a:rPr>
              <a:t> Maher &amp; </a:t>
            </a:r>
            <a:r>
              <a:rPr lang="en-US" sz="1600" dirty="0" err="1">
                <a:solidFill>
                  <a:schemeClr val="tx1"/>
                </a:solidFill>
              </a:rPr>
              <a:t>Rekfa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Maged</a:t>
            </a:r>
            <a:endParaRPr lang="ar-EG" sz="1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12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Supervisor: Eng. Mohamed </a:t>
            </a:r>
            <a:r>
              <a:rPr lang="en-US" sz="1600" dirty="0" err="1">
                <a:solidFill>
                  <a:schemeClr val="tx1"/>
                </a:solidFill>
              </a:rPr>
              <a:t>Alemam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ectionTitle"/>
          <p:cNvSpPr txBox="1"/>
          <p:nvPr/>
        </p:nvSpPr>
        <p:spPr>
          <a:xfrm>
            <a:off x="1006876" y="1115954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200" b="1" dirty="0">
                <a:solidFill>
                  <a:srgbClr val="047954"/>
                </a:solidFill>
              </a:rPr>
              <a:t>Project Idea</a:t>
            </a:r>
          </a:p>
        </p:txBody>
      </p:sp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600000"/>
            <a:ext cx="61976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The Problem</a:t>
            </a:r>
          </a:p>
          <a:p>
            <a:pPr marL="0" lvl="0" indent="0" algn="l" rtl="0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During a crisis, misinformation and panic spread across social platforms faster than officials can respond, making it hard to separate credible signals from noise in real time.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Our Solution</a:t>
            </a:r>
          </a:p>
          <a:p>
            <a:pPr marL="0" lvl="0" indent="0" algn="l" rtl="0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A full Medallion Architecture pipeline (Bronze → Silver → Gold) that cleans 50,000 crisis-related posts, models them into a Star Schema, and powers a 5-page Power BI dashboard tracking sentiment, credibility, and engagement</a:t>
            </a:r>
            <a:r>
              <a:rPr lang="en-US" sz="1400" dirty="0">
                <a:solidFill>
                  <a:srgbClr val="404040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Why It Stands Out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Goes beyond a simple dashboard by scoring every post for misinformation probability, credibility, toxicity, and cascade depth – turning raw chatter into an early-warning system</a:t>
            </a:r>
            <a:r>
              <a:rPr lang="en-US" sz="140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</a:rPr>
              <a:t>3-  The Solution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2" y="31617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ar-EG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Our Solution</a:t>
            </a:r>
          </a:p>
        </p:txBody>
      </p:sp>
      <p:sp>
        <p:nvSpPr>
          <p:cNvPr id="207" name="Google Shape;207;p10"/>
          <p:cNvSpPr/>
          <p:nvPr/>
        </p:nvSpPr>
        <p:spPr>
          <a:xfrm>
            <a:off x="7326052" y="175853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1-  The </a:t>
            </a:r>
            <a:r>
              <a:rPr lang="en-US" sz="2000" b="1" dirty="0">
                <a:solidFill>
                  <a:schemeClr val="bg1"/>
                </a:solidFill>
              </a:rPr>
              <a:t>Problem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>
          <a:blip r:embed="rId2"/>
          <a:srcRect l="1481" r="1481"/>
          <a:stretch/>
        </p:blipFill>
        <p:spPr>
          <a:xfrm>
            <a:off x="268043" y="1154243"/>
            <a:ext cx="11655913" cy="507165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245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301625" y="1284381"/>
            <a:ext cx="655955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Medallion Architecture</a:t>
            </a:r>
          </a:p>
        </p:txBody>
      </p:sp>
      <p:sp>
        <p:nvSpPr>
          <p:cNvPr id="301" name="ArchBody"/>
          <p:cNvSpPr txBox="1"/>
          <p:nvPr/>
        </p:nvSpPr>
        <p:spPr>
          <a:xfrm>
            <a:off x="301624" y="2034382"/>
            <a:ext cx="5794375" cy="394669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47954"/>
                </a:solidFill>
              </a:rPr>
              <a:t>Bronze – Raw Data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Load data.csv as-is; inspect schema, types, and describe() to profile 50,000 raw posts.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AB7D"/>
                </a:solidFill>
              </a:rPr>
              <a:t>Silver – Cleaned Data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Handle missing data, standardize and rename columns, and remove duplication.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7B119"/>
                </a:solidFill>
              </a:rPr>
              <a:t>Gold – Star Schema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Build 1 fact table (fact_posts) and 9 dimension tables, then feed EDA, Power BI, and the planned AI model.</a:t>
            </a:r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>
          <a:blip r:embed="rId2"/>
          <a:srcRect t="5995" b="5995"/>
          <a:stretch/>
        </p:blipFill>
        <p:spPr>
          <a:xfrm>
            <a:off x="6286404" y="1372341"/>
            <a:ext cx="5624342" cy="43021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81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193114" y="1223686"/>
            <a:ext cx="655955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Data Structure</a:t>
            </a:r>
          </a:p>
        </p:txBody>
      </p:sp>
      <p:sp>
        <p:nvSpPr>
          <p:cNvPr id="330" name="DataBody"/>
          <p:cNvSpPr txBox="1"/>
          <p:nvPr/>
        </p:nvSpPr>
        <p:spPr>
          <a:xfrm>
            <a:off x="15694" y="1973686"/>
            <a:ext cx="5902887" cy="45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6EA8"/>
                </a:solidFill>
              </a:rPr>
              <a:t>Source &amp; Shape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Single CSV – 50,000 posts × 32 raw columns (platform, sentiment, engagement, credibility, misinformation, region, language.).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6EA8"/>
                </a:solidFill>
              </a:rPr>
              <a:t>Cleaning Techniques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Missing-value handling, column standardization/renaming, and duplicate removal (Bronze → Silver).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6EA8"/>
                </a:solidFill>
              </a:rPr>
              <a:t>Star Schema 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1 fact table (fact_posts) linked to 9 dimension tables – users,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 platform, time, topic, region, sentiment, emotion, language, crisis phase</a:t>
            </a:r>
            <a:r>
              <a:rPr lang="en-US" sz="1250" dirty="0">
                <a:solidFill>
                  <a:srgbClr val="404040"/>
                </a:solidFill>
              </a:rPr>
              <a:t>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36EA8"/>
                </a:solidFill>
              </a:rPr>
              <a:t>Class Balance: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rgbClr val="404040"/>
                </a:solidFill>
              </a:rPr>
              <a:t>Skewed – 22,249 negative vs. 9,270 positive posts, reflecting real crisis-chatter negativity.</a:t>
            </a:r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2"/>
          <a:srcRect l="16373" r="16373"/>
          <a:stretch/>
        </p:blipFill>
        <p:spPr>
          <a:xfrm>
            <a:off x="5918581" y="1034454"/>
            <a:ext cx="6080305" cy="4789091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193114" y="1223686"/>
            <a:ext cx="655955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1500"/>
              </a:spcBef>
              <a:spcAft>
                <a:spcPts val="750"/>
              </a:spcAft>
            </a:pPr>
            <a:r>
              <a:rPr lang="en-US" sz="3200" b="1" dirty="0">
                <a:solidFill>
                  <a:srgbClr val="0FAB7D"/>
                </a:solidFill>
                <a:effectLst/>
                <a:latin typeface="Calibri" panose="020F0502020204030204" pitchFamily="34" charset="0"/>
              </a:rPr>
              <a:t>Analysis Requirements and KPIs</a:t>
            </a:r>
          </a:p>
        </p:txBody>
      </p:sp>
      <p:sp>
        <p:nvSpPr>
          <p:cNvPr id="330" name="DataBody"/>
          <p:cNvSpPr txBox="1"/>
          <p:nvPr/>
        </p:nvSpPr>
        <p:spPr>
          <a:xfrm>
            <a:off x="15694" y="1973686"/>
            <a:ext cx="10897145" cy="438266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/>
          <a:lstStyle/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Post </a:t>
            </a:r>
            <a:r>
              <a:rPr lang="en-US" sz="2400" dirty="0">
                <a:solidFill>
                  <a:srgbClr val="336EA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Volume: </a:t>
            </a:r>
            <a:endParaRPr lang="ar-EG" sz="2400" dirty="0">
              <a:solidFill>
                <a:srgbClr val="336EA8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Total Posts, Total Platforms, Total Topics, Total Source Types, posts by crisis phase and source type.</a:t>
            </a: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36EA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Sentiment: </a:t>
            </a: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Positive/Negative Post counts, Average Sentiment Score, sentiment and emotion distribution.</a:t>
            </a: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36EA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Credibility :</a:t>
            </a: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Average Credibility, Average Toxicity, Average Misinformation, High-Risk Post count.</a:t>
            </a: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36EA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Engagement &amp; Behavior:</a:t>
            </a:r>
          </a:p>
          <a:p>
            <a:pPr marL="342900" marR="0" lvl="0" indent="-3429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Total Likes/Shares/Comments, Average Engagement, Peak Month/Day, Average Cascade Depth.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2000" dirty="0">
                <a:effectLst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154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0" y="674557"/>
            <a:ext cx="12007121" cy="561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14300" indent="0" algn="ctr" fontAlgn="base">
              <a:buNone/>
            </a:pPr>
            <a:r>
              <a:rPr lang="en-US" sz="3600" b="1" i="0" dirty="0">
                <a:solidFill>
                  <a:srgbClr val="0FAB7D"/>
                </a:solidFill>
                <a:effectLst/>
                <a:latin typeface="inherit"/>
              </a:rPr>
              <a:t>AI Models</a:t>
            </a:r>
          </a:p>
          <a:p>
            <a:pPr marL="114300" indent="0" algn="l" fontAlgn="base">
              <a:buNone/>
            </a:pPr>
            <a:endParaRPr lang="en-US" sz="2400" b="1" i="0" dirty="0">
              <a:solidFill>
                <a:srgbClr val="336EA8"/>
              </a:solidFill>
              <a:effectLst/>
              <a:latin typeface="inherit"/>
            </a:endParaRPr>
          </a:p>
          <a:p>
            <a:pPr marL="114300" indent="0" algn="l" fontAlgn="base">
              <a:buNone/>
            </a:pPr>
            <a:endParaRPr lang="en-US" sz="2400" b="1" dirty="0">
              <a:solidFill>
                <a:srgbClr val="336EA8"/>
              </a:solidFill>
              <a:latin typeface="inherit"/>
            </a:endParaRPr>
          </a:p>
          <a:p>
            <a:pPr marL="114300" indent="0" algn="l" fontAlgn="base">
              <a:buNone/>
            </a:pPr>
            <a:endParaRPr lang="en-US" sz="2400" b="1" i="0" dirty="0">
              <a:solidFill>
                <a:srgbClr val="336EA8"/>
              </a:solidFill>
              <a:effectLst/>
              <a:latin typeface="inherit"/>
            </a:endParaRPr>
          </a:p>
          <a:p>
            <a:pPr marL="114300" indent="0" algn="l" fontAlgn="base">
              <a:buNone/>
            </a:pPr>
            <a:endParaRPr lang="en-US" sz="2400" b="1" dirty="0">
              <a:solidFill>
                <a:srgbClr val="336EA8"/>
              </a:solidFill>
              <a:latin typeface="inherit"/>
            </a:endParaRPr>
          </a:p>
          <a:p>
            <a:pPr marL="114300" indent="0" algn="l" fontAlgn="base">
              <a:buNone/>
            </a:pPr>
            <a:endParaRPr lang="en-US" sz="2400" b="1" i="0" dirty="0">
              <a:solidFill>
                <a:srgbClr val="336EA8"/>
              </a:solidFill>
              <a:effectLst/>
              <a:latin typeface="inherit"/>
            </a:endParaRPr>
          </a:p>
          <a:p>
            <a:pPr marL="0" lvl="0" indent="0" algn="l" rtl="0">
              <a:buNone/>
            </a:pPr>
            <a:endParaRPr lang="en-US" sz="3200" dirty="0">
              <a:solidFill>
                <a:srgbClr val="047954"/>
              </a:solidFill>
            </a:endParaRPr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ch0">
            <a:extLst>
              <a:ext uri="{FF2B5EF4-FFF2-40B4-BE49-F238E27FC236}">
                <a16:creationId xmlns:a16="http://schemas.microsoft.com/office/drawing/2014/main" id="{34812CD4-E8C2-5DE7-4BA3-91B56A3255EE}"/>
              </a:ext>
            </a:extLst>
          </p:cNvPr>
          <p:cNvSpPr/>
          <p:nvPr/>
        </p:nvSpPr>
        <p:spPr>
          <a:xfrm>
            <a:off x="787531" y="1748976"/>
            <a:ext cx="3338533" cy="116133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114300" indent="0" fontAlgn="base">
              <a:buNone/>
            </a:pPr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Forecast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inherit"/>
              </a:rPr>
              <a:t>RandomForest</a:t>
            </a:r>
            <a:r>
              <a:rPr lang="en-US" sz="1800" b="0" i="0" dirty="0">
                <a:effectLst/>
                <a:latin typeface="inherit"/>
              </a:rPr>
              <a:t>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inherit"/>
              </a:rPr>
              <a:t>Prophet </a:t>
            </a:r>
          </a:p>
          <a:p>
            <a:pPr marL="0" indent="0">
              <a:spcAft>
                <a:spcPts val="500"/>
              </a:spcAft>
              <a:buNone/>
            </a:pPr>
            <a:endParaRPr lang="en-US" sz="1100" dirty="0">
              <a:solidFill>
                <a:srgbClr val="404040"/>
              </a:solidFill>
            </a:endParaRPr>
          </a:p>
        </p:txBody>
      </p:sp>
      <p:sp>
        <p:nvSpPr>
          <p:cNvPr id="24" name="Tech0">
            <a:extLst>
              <a:ext uri="{FF2B5EF4-FFF2-40B4-BE49-F238E27FC236}">
                <a16:creationId xmlns:a16="http://schemas.microsoft.com/office/drawing/2014/main" id="{9EF6CE94-BB35-EF32-2C62-F7D2F301F8A6}"/>
              </a:ext>
            </a:extLst>
          </p:cNvPr>
          <p:cNvSpPr/>
          <p:nvPr/>
        </p:nvSpPr>
        <p:spPr>
          <a:xfrm>
            <a:off x="7428505" y="1713328"/>
            <a:ext cx="3338533" cy="1161337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114300" indent="0" algn="l" fontAlgn="base">
              <a:buNone/>
            </a:pPr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Cluster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inherit"/>
              </a:rPr>
              <a:t> </a:t>
            </a:r>
            <a:r>
              <a:rPr lang="en-US" sz="1800" b="0" i="0" dirty="0" err="1">
                <a:effectLst/>
                <a:latin typeface="inherit"/>
              </a:rPr>
              <a:t>KMeans</a:t>
            </a:r>
            <a:r>
              <a:rPr lang="en-US" sz="1800" b="0" i="0" dirty="0">
                <a:effectLst/>
                <a:latin typeface="inherit"/>
              </a:rPr>
              <a:t>-Clustering </a:t>
            </a:r>
          </a:p>
        </p:txBody>
      </p:sp>
      <p:sp>
        <p:nvSpPr>
          <p:cNvPr id="25" name="Tech0">
            <a:extLst>
              <a:ext uri="{FF2B5EF4-FFF2-40B4-BE49-F238E27FC236}">
                <a16:creationId xmlns:a16="http://schemas.microsoft.com/office/drawing/2014/main" id="{9C954C1B-8C2E-6D75-0932-748C85DF5B66}"/>
              </a:ext>
            </a:extLst>
          </p:cNvPr>
          <p:cNvSpPr/>
          <p:nvPr/>
        </p:nvSpPr>
        <p:spPr>
          <a:xfrm>
            <a:off x="787531" y="4581732"/>
            <a:ext cx="3338533" cy="1161337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114300" indent="0" fontAlgn="base">
              <a:buNone/>
            </a:pPr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Anomaly Detection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inherit"/>
              </a:rPr>
              <a:t>IsolationForest</a:t>
            </a:r>
            <a:r>
              <a:rPr lang="en-US" sz="1800" b="0" i="0" dirty="0">
                <a:effectLst/>
                <a:latin typeface="inherit"/>
              </a:rPr>
              <a:t> </a:t>
            </a:r>
          </a:p>
        </p:txBody>
      </p:sp>
      <p:sp>
        <p:nvSpPr>
          <p:cNvPr id="26" name="Tech0">
            <a:extLst>
              <a:ext uri="{FF2B5EF4-FFF2-40B4-BE49-F238E27FC236}">
                <a16:creationId xmlns:a16="http://schemas.microsoft.com/office/drawing/2014/main" id="{11CCA5B0-1F4C-5935-A667-4FCDDA30E083}"/>
              </a:ext>
            </a:extLst>
          </p:cNvPr>
          <p:cNvSpPr/>
          <p:nvPr/>
        </p:nvSpPr>
        <p:spPr>
          <a:xfrm>
            <a:off x="7428506" y="4613405"/>
            <a:ext cx="3338533" cy="114022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fontAlgn="base"/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Tune-models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inherit"/>
              </a:rPr>
              <a:t> </a:t>
            </a:r>
            <a:r>
              <a:rPr lang="en-US" sz="1800" b="0" i="0" dirty="0" err="1">
                <a:effectLst/>
                <a:latin typeface="inherit"/>
              </a:rPr>
              <a:t>RandomizedSearchCV</a:t>
            </a:r>
            <a:endParaRPr lang="en-US" sz="1800" b="0" i="0" dirty="0">
              <a:effectLst/>
              <a:latin typeface="inherit"/>
            </a:endParaRPr>
          </a:p>
          <a:p>
            <a:pPr marL="114300" indent="0" algn="ctr" fontAlgn="base">
              <a:buNone/>
            </a:pPr>
            <a:endParaRPr lang="en-US" sz="1800" b="0" i="0" dirty="0">
              <a:effectLst/>
              <a:latin typeface="inherit"/>
            </a:endParaRPr>
          </a:p>
        </p:txBody>
      </p:sp>
      <p:sp>
        <p:nvSpPr>
          <p:cNvPr id="4" name="Tech0">
            <a:extLst>
              <a:ext uri="{FF2B5EF4-FFF2-40B4-BE49-F238E27FC236}">
                <a16:creationId xmlns:a16="http://schemas.microsoft.com/office/drawing/2014/main" id="{CD3D895B-20B9-CCC6-FA12-D048578B595A}"/>
              </a:ext>
            </a:extLst>
          </p:cNvPr>
          <p:cNvSpPr/>
          <p:nvPr/>
        </p:nvSpPr>
        <p:spPr>
          <a:xfrm>
            <a:off x="3036735" y="3283818"/>
            <a:ext cx="1089329" cy="92441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114300" indent="0" fontAlgn="base">
              <a:buNone/>
            </a:pPr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R2</a:t>
            </a:r>
            <a:endParaRPr lang="en-US" sz="2000" b="1" dirty="0">
              <a:solidFill>
                <a:srgbClr val="336EA8"/>
              </a:solidFill>
              <a:latin typeface="inherit"/>
            </a:endParaRPr>
          </a:p>
          <a:p>
            <a:pPr marL="114300" indent="0" fontAlgn="base">
              <a:buNone/>
            </a:pPr>
            <a:r>
              <a:rPr lang="en-US" sz="1800" b="0" i="0" dirty="0">
                <a:effectLst/>
                <a:latin typeface="inherit"/>
              </a:rPr>
              <a:t>99.9% </a:t>
            </a:r>
          </a:p>
        </p:txBody>
      </p:sp>
      <p:sp>
        <p:nvSpPr>
          <p:cNvPr id="6" name="Tech0">
            <a:extLst>
              <a:ext uri="{FF2B5EF4-FFF2-40B4-BE49-F238E27FC236}">
                <a16:creationId xmlns:a16="http://schemas.microsoft.com/office/drawing/2014/main" id="{A4C4F88E-A0C8-C5D2-1F59-F836AD3D9781}"/>
              </a:ext>
            </a:extLst>
          </p:cNvPr>
          <p:cNvSpPr/>
          <p:nvPr/>
        </p:nvSpPr>
        <p:spPr>
          <a:xfrm>
            <a:off x="5147143" y="3281830"/>
            <a:ext cx="1260283" cy="84821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114300" indent="0" fontAlgn="base">
              <a:buNone/>
            </a:pPr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RSME</a:t>
            </a:r>
          </a:p>
          <a:p>
            <a:pPr marL="114300" indent="0" fontAlgn="base">
              <a:buNone/>
            </a:pPr>
            <a:r>
              <a:rPr lang="en-US" sz="1800" b="0" i="0" dirty="0">
                <a:effectLst/>
                <a:latin typeface="inherit"/>
              </a:rPr>
              <a:t>0.0038</a:t>
            </a:r>
          </a:p>
        </p:txBody>
      </p:sp>
      <p:sp>
        <p:nvSpPr>
          <p:cNvPr id="8" name="Tech0">
            <a:extLst>
              <a:ext uri="{FF2B5EF4-FFF2-40B4-BE49-F238E27FC236}">
                <a16:creationId xmlns:a16="http://schemas.microsoft.com/office/drawing/2014/main" id="{61B21161-9B65-7296-73F9-4A89DD0F94A2}"/>
              </a:ext>
            </a:extLst>
          </p:cNvPr>
          <p:cNvSpPr/>
          <p:nvPr/>
        </p:nvSpPr>
        <p:spPr>
          <a:xfrm>
            <a:off x="7428506" y="3281830"/>
            <a:ext cx="1182094" cy="92441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114300" indent="0" fontAlgn="base">
              <a:buNone/>
            </a:pPr>
            <a:r>
              <a:rPr lang="en-US" sz="2000" b="1" i="0" dirty="0">
                <a:solidFill>
                  <a:srgbClr val="336EA8"/>
                </a:solidFill>
                <a:effectLst/>
                <a:latin typeface="inherit"/>
              </a:rPr>
              <a:t>MAE</a:t>
            </a:r>
            <a:endParaRPr lang="en-US" sz="2000" b="1" dirty="0">
              <a:solidFill>
                <a:srgbClr val="336EA8"/>
              </a:solidFill>
              <a:latin typeface="inherit"/>
            </a:endParaRPr>
          </a:p>
          <a:p>
            <a:pPr marL="114300" indent="0" fontAlgn="base">
              <a:buNone/>
            </a:pPr>
            <a:r>
              <a:rPr lang="en-US" sz="1800" b="0" i="0" dirty="0">
                <a:effectLst/>
                <a:latin typeface="inherit"/>
              </a:rPr>
              <a:t>0.0026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958876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Programming Languages &amp; Frameworks</a:t>
            </a:r>
          </a:p>
        </p:txBody>
      </p:sp>
      <p:sp>
        <p:nvSpPr>
          <p:cNvPr id="340" name="Tech0"/>
          <p:cNvSpPr/>
          <p:nvPr/>
        </p:nvSpPr>
        <p:spPr>
          <a:xfrm>
            <a:off x="838200" y="1658876"/>
            <a:ext cx="3338533" cy="2175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47954"/>
                </a:solidFill>
              </a:rPr>
              <a:t>Python (Pandas, NumPy)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Core language for data cleaning and pipeline logic across all three notebook layers</a:t>
            </a:r>
            <a:r>
              <a:rPr lang="en-US" sz="110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341" name="Tech1"/>
          <p:cNvSpPr/>
          <p:nvPr/>
        </p:nvSpPr>
        <p:spPr>
          <a:xfrm>
            <a:off x="4426733" y="1658876"/>
            <a:ext cx="3338533" cy="2175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47954"/>
            </a:solidFill>
          </a:ln>
        </p:spPr>
        <p:txBody>
          <a:bodyPr wrap="square" lIns="182880" tIns="146304" rIns="182880" bIns="146304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47954"/>
                </a:solidFill>
              </a:rPr>
              <a:t>Jupyter Notebook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Interactive development environment for the Bronze, Silver, and Gold notebooks</a:t>
            </a:r>
            <a:r>
              <a:rPr lang="en-US" sz="110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342" name="Tech2"/>
          <p:cNvSpPr/>
          <p:nvPr/>
        </p:nvSpPr>
        <p:spPr>
          <a:xfrm>
            <a:off x="8015266" y="1658876"/>
            <a:ext cx="3338533" cy="2175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336EA8"/>
            </a:solidFill>
          </a:ln>
        </p:spPr>
        <p:txBody>
          <a:bodyPr wrap="square" lIns="182880" tIns="146304" rIns="182880" bIns="146304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336EA8"/>
                </a:solidFill>
              </a:rPr>
              <a:t>Power BI + DAX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5-page dashboard with KPI measures written in DEFINE/MEASURE/EVALUATE format.</a:t>
            </a:r>
          </a:p>
        </p:txBody>
      </p:sp>
      <p:sp>
        <p:nvSpPr>
          <p:cNvPr id="343" name="Tech3"/>
          <p:cNvSpPr/>
          <p:nvPr/>
        </p:nvSpPr>
        <p:spPr>
          <a:xfrm>
            <a:off x="838200" y="3925000"/>
            <a:ext cx="3338533" cy="2175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336EA8"/>
            </a:solidFill>
          </a:ln>
        </p:spPr>
        <p:txBody>
          <a:bodyPr wrap="square" lIns="182880" tIns="146304" rIns="182880" bIns="146304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336EA8"/>
                </a:solidFill>
              </a:rPr>
              <a:t>Power Query (M)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Data type fixes and transformations feeding the Gold star-schema model</a:t>
            </a:r>
            <a:r>
              <a:rPr lang="en-US" sz="110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344" name="Tech4"/>
          <p:cNvSpPr/>
          <p:nvPr/>
        </p:nvSpPr>
        <p:spPr>
          <a:xfrm>
            <a:off x="4426733" y="3925000"/>
            <a:ext cx="3338533" cy="2175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7B119"/>
            </a:solidFill>
          </a:ln>
        </p:spPr>
        <p:txBody>
          <a:bodyPr wrap="square" lIns="182880" tIns="146304" rIns="182880" bIns="146304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D7B119"/>
                </a:solidFill>
              </a:rPr>
              <a:t>Figma (planned)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UI/UX design for the analysis and AI-model result presentation layer</a:t>
            </a:r>
            <a:r>
              <a:rPr lang="en-US" sz="110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345" name="Tech5"/>
          <p:cNvSpPr/>
          <p:nvPr/>
        </p:nvSpPr>
        <p:spPr>
          <a:xfrm>
            <a:off x="8015266" y="3925000"/>
            <a:ext cx="3338533" cy="2175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7B119"/>
            </a:solidFill>
          </a:ln>
        </p:spPr>
        <p:txBody>
          <a:bodyPr wrap="square" lIns="182880" tIns="146304" rIns="182880" bIns="146304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D7B119"/>
                </a:solidFill>
              </a:rPr>
              <a:t>Python ML (planned)</a:t>
            </a:r>
          </a:p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</a:rPr>
              <a:t>Upcoming model to classify misinformation risk from the Gold layer</a:t>
            </a:r>
            <a:r>
              <a:rPr lang="en-US" sz="110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71356" y="942356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Dashboard Demo &amp; Validation</a:t>
            </a:r>
          </a:p>
        </p:txBody>
      </p:sp>
      <p:pic>
        <p:nvPicPr>
          <p:cNvPr id="350" name="DashPostsVolume"/>
          <p:cNvPicPr preferRelativeResize="0"/>
          <p:nvPr/>
        </p:nvPicPr>
        <p:blipFill>
          <a:blip r:embed="rId2"/>
          <a:srcRect t="93" b="93"/>
          <a:stretch/>
        </p:blipFill>
        <p:spPr>
          <a:xfrm>
            <a:off x="104931" y="1566646"/>
            <a:ext cx="5591331" cy="3224478"/>
          </a:xfrm>
          <a:prstGeom prst="roundRect">
            <a:avLst>
              <a:gd name="adj" fmla="val 2000"/>
            </a:avLst>
          </a:prstGeom>
          <a:ln w="19050">
            <a:solidFill>
              <a:srgbClr val="336EA8"/>
            </a:solidFill>
          </a:ln>
        </p:spPr>
      </p:pic>
      <p:pic>
        <p:nvPicPr>
          <p:cNvPr id="352" name="DashSentiment"/>
          <p:cNvPicPr preferRelativeResize="0"/>
          <p:nvPr/>
        </p:nvPicPr>
        <p:blipFill>
          <a:blip r:embed="rId3"/>
          <a:srcRect t="1971" b="1971"/>
          <a:stretch/>
        </p:blipFill>
        <p:spPr>
          <a:xfrm>
            <a:off x="5831174" y="1596178"/>
            <a:ext cx="6255895" cy="3224478"/>
          </a:xfrm>
          <a:prstGeom prst="roundRect">
            <a:avLst>
              <a:gd name="adj" fmla="val 2000"/>
            </a:avLst>
          </a:prstGeom>
          <a:ln w="19050">
            <a:solidFill>
              <a:srgbClr val="336EA8"/>
            </a:solidFill>
          </a:ln>
        </p:spPr>
      </p:pic>
      <p:sp>
        <p:nvSpPr>
          <p:cNvPr id="360" name="Val0"/>
          <p:cNvSpPr/>
          <p:nvPr/>
        </p:nvSpPr>
        <p:spPr>
          <a:xfrm>
            <a:off x="838200" y="5124478"/>
            <a:ext cx="9325131" cy="850000"/>
          </a:xfrm>
          <a:prstGeom prst="roundRect">
            <a:avLst>
              <a:gd name="adj" fmla="val 8000"/>
            </a:avLst>
          </a:prstGeom>
          <a:solidFill>
            <a:srgbClr val="EAF5F0"/>
          </a:solidFill>
          <a:ln>
            <a:noFill/>
          </a:ln>
        </p:spPr>
        <p:txBody>
          <a:bodyPr wrap="square" lIns="164592" tIns="82440" rIns="164592" bIns="8244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47954"/>
                </a:solidFill>
              </a:rPr>
              <a:t>Data Quality Checks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</a:rPr>
              <a:t>Verified every dimension merge preserved the original row count – no fan-out across 9 joins.</a:t>
            </a:r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C1F3B-2EAE-CB73-67D2-906F3D6CBB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Google Shape;214;p11">
            <a:extLst>
              <a:ext uri="{FF2B5EF4-FFF2-40B4-BE49-F238E27FC236}">
                <a16:creationId xmlns:a16="http://schemas.microsoft.com/office/drawing/2014/main" id="{8E34E949-CDEA-1D9F-2481-CCE3441B9DC6}"/>
              </a:ext>
            </a:extLst>
          </p:cNvPr>
          <p:cNvSpPr txBox="1">
            <a:spLocks/>
          </p:cNvSpPr>
          <p:nvPr/>
        </p:nvSpPr>
        <p:spPr>
          <a:xfrm>
            <a:off x="871356" y="942356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200" b="1">
                <a:solidFill>
                  <a:srgbClr val="047954"/>
                </a:solidFill>
              </a:rPr>
              <a:t>Dashboard Demo &amp; Validation</a:t>
            </a:r>
            <a:endParaRPr lang="en-US" sz="3200" b="1" dirty="0">
              <a:solidFill>
                <a:srgbClr val="047954"/>
              </a:solidFill>
            </a:endParaRPr>
          </a:p>
        </p:txBody>
      </p:sp>
      <p:pic>
        <p:nvPicPr>
          <p:cNvPr id="6" name="DashPostsVolume">
            <a:extLst>
              <a:ext uri="{FF2B5EF4-FFF2-40B4-BE49-F238E27FC236}">
                <a16:creationId xmlns:a16="http://schemas.microsoft.com/office/drawing/2014/main" id="{1118CEFF-D39E-10DC-E5A7-ACEB0EE4C260}"/>
              </a:ext>
            </a:extLst>
          </p:cNvPr>
          <p:cNvPicPr preferRelativeResize="0"/>
          <p:nvPr/>
        </p:nvPicPr>
        <p:blipFill>
          <a:blip r:embed="rId2"/>
          <a:srcRect l="1479" r="1479"/>
          <a:stretch/>
        </p:blipFill>
        <p:spPr>
          <a:xfrm>
            <a:off x="179882" y="1792356"/>
            <a:ext cx="5366479" cy="3224478"/>
          </a:xfrm>
          <a:prstGeom prst="roundRect">
            <a:avLst>
              <a:gd name="adj" fmla="val 2000"/>
            </a:avLst>
          </a:prstGeom>
          <a:ln w="19050">
            <a:solidFill>
              <a:srgbClr val="336EA8"/>
            </a:solidFill>
          </a:ln>
        </p:spPr>
      </p:pic>
      <p:pic>
        <p:nvPicPr>
          <p:cNvPr id="7" name="DashSentiment">
            <a:extLst>
              <a:ext uri="{FF2B5EF4-FFF2-40B4-BE49-F238E27FC236}">
                <a16:creationId xmlns:a16="http://schemas.microsoft.com/office/drawing/2014/main" id="{7C9C47F3-237B-14D6-1AAF-0BEFCC49071D}"/>
              </a:ext>
            </a:extLst>
          </p:cNvPr>
          <p:cNvPicPr preferRelativeResize="0"/>
          <p:nvPr/>
        </p:nvPicPr>
        <p:blipFill>
          <a:blip r:embed="rId3"/>
          <a:srcRect l="452" r="452"/>
          <a:stretch/>
        </p:blipFill>
        <p:spPr>
          <a:xfrm>
            <a:off x="5771212" y="1795644"/>
            <a:ext cx="6240905" cy="3224478"/>
          </a:xfrm>
          <a:prstGeom prst="roundRect">
            <a:avLst>
              <a:gd name="adj" fmla="val 2000"/>
            </a:avLst>
          </a:prstGeom>
          <a:ln w="19050">
            <a:solidFill>
              <a:srgbClr val="336EA8"/>
            </a:solidFill>
          </a:ln>
        </p:spPr>
      </p:pic>
      <p:sp>
        <p:nvSpPr>
          <p:cNvPr id="9" name="Val1">
            <a:extLst>
              <a:ext uri="{FF2B5EF4-FFF2-40B4-BE49-F238E27FC236}">
                <a16:creationId xmlns:a16="http://schemas.microsoft.com/office/drawing/2014/main" id="{2E725AB3-F793-CC9B-18FF-9F0C34760D6C}"/>
              </a:ext>
            </a:extLst>
          </p:cNvPr>
          <p:cNvSpPr/>
          <p:nvPr/>
        </p:nvSpPr>
        <p:spPr>
          <a:xfrm>
            <a:off x="871356" y="5255077"/>
            <a:ext cx="6878559" cy="850000"/>
          </a:xfrm>
          <a:prstGeom prst="roundRect">
            <a:avLst>
              <a:gd name="adj" fmla="val 8000"/>
            </a:avLst>
          </a:prstGeom>
          <a:solidFill>
            <a:srgbClr val="EAF5F0"/>
          </a:solidFill>
          <a:ln>
            <a:noFill/>
          </a:ln>
        </p:spPr>
        <p:txBody>
          <a:bodyPr wrap="square" lIns="164592" tIns="82440" rIns="164592" bIns="8244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47954"/>
                </a:solidFill>
              </a:rPr>
              <a:t>Measure Validation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</a:rPr>
              <a:t>DAX measures tested in Query View (DEFINE/MEASURE/EVALUATE) against manual Pandas aggregates.</a:t>
            </a:r>
          </a:p>
        </p:txBody>
      </p:sp>
      <p:sp>
        <p:nvSpPr>
          <p:cNvPr id="11" name="Google Shape;215;p11">
            <a:extLst>
              <a:ext uri="{FF2B5EF4-FFF2-40B4-BE49-F238E27FC236}">
                <a16:creationId xmlns:a16="http://schemas.microsoft.com/office/drawing/2014/main" id="{F8BC5260-E4B5-3AF1-A9A9-0D75997E60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2" name="Google Shape;216;p11">
            <a:extLst>
              <a:ext uri="{FF2B5EF4-FFF2-40B4-BE49-F238E27FC236}">
                <a16:creationId xmlns:a16="http://schemas.microsoft.com/office/drawing/2014/main" id="{9ADAD60F-DAD6-49FB-15AF-334A405E146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17;p11">
            <a:extLst>
              <a:ext uri="{FF2B5EF4-FFF2-40B4-BE49-F238E27FC236}">
                <a16:creationId xmlns:a16="http://schemas.microsoft.com/office/drawing/2014/main" id="{7E6C0CEF-7B24-2C80-A94A-F7DB2732D7E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4" name="Google Shape;110;p1">
            <a:extLst>
              <a:ext uri="{FF2B5EF4-FFF2-40B4-BE49-F238E27FC236}">
                <a16:creationId xmlns:a16="http://schemas.microsoft.com/office/drawing/2014/main" id="{AAC4ADD6-B207-3A92-5A40-1F4D5AC1B12E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143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97A8F-4689-1052-3FD6-4EE6B8CF16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Google Shape;214;p11">
            <a:extLst>
              <a:ext uri="{FF2B5EF4-FFF2-40B4-BE49-F238E27FC236}">
                <a16:creationId xmlns:a16="http://schemas.microsoft.com/office/drawing/2014/main" id="{5E47953F-D494-151A-E819-2E14707C0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1356" y="942356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Dashboard Demo &amp; Validation</a:t>
            </a:r>
          </a:p>
        </p:txBody>
      </p:sp>
      <p:pic>
        <p:nvPicPr>
          <p:cNvPr id="7" name="DashPostsVolume">
            <a:extLst>
              <a:ext uri="{FF2B5EF4-FFF2-40B4-BE49-F238E27FC236}">
                <a16:creationId xmlns:a16="http://schemas.microsoft.com/office/drawing/2014/main" id="{EBC0271F-6B7F-B934-46E2-92219CF56D46}"/>
              </a:ext>
            </a:extLst>
          </p:cNvPr>
          <p:cNvPicPr preferRelativeResize="0"/>
          <p:nvPr/>
        </p:nvPicPr>
        <p:blipFill>
          <a:blip r:embed="rId2"/>
          <a:srcRect l="640" r="640"/>
          <a:stretch/>
        </p:blipFill>
        <p:spPr>
          <a:xfrm>
            <a:off x="69147" y="1642356"/>
            <a:ext cx="5987287" cy="3230007"/>
          </a:xfrm>
          <a:prstGeom prst="roundRect">
            <a:avLst>
              <a:gd name="adj" fmla="val 2000"/>
            </a:avLst>
          </a:prstGeom>
          <a:ln w="19050">
            <a:solidFill>
              <a:srgbClr val="336EA8"/>
            </a:solidFill>
          </a:ln>
        </p:spPr>
      </p:pic>
      <p:sp>
        <p:nvSpPr>
          <p:cNvPr id="11" name="Val2">
            <a:extLst>
              <a:ext uri="{FF2B5EF4-FFF2-40B4-BE49-F238E27FC236}">
                <a16:creationId xmlns:a16="http://schemas.microsoft.com/office/drawing/2014/main" id="{5449BAD4-1A85-1333-EB33-54A54FE544A2}"/>
              </a:ext>
            </a:extLst>
          </p:cNvPr>
          <p:cNvSpPr/>
          <p:nvPr/>
        </p:nvSpPr>
        <p:spPr>
          <a:xfrm>
            <a:off x="1004342" y="5124478"/>
            <a:ext cx="10349458" cy="850000"/>
          </a:xfrm>
          <a:prstGeom prst="roundRect">
            <a:avLst>
              <a:gd name="adj" fmla="val 8000"/>
            </a:avLst>
          </a:prstGeom>
          <a:solidFill>
            <a:srgbClr val="EAF5F0"/>
          </a:solidFill>
          <a:ln>
            <a:noFill/>
          </a:ln>
        </p:spPr>
        <p:txBody>
          <a:bodyPr wrap="square" lIns="164592" tIns="82440" rIns="164592" bIns="8244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47954"/>
                </a:solidFill>
              </a:rPr>
              <a:t>Cross-Filter Testing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04040"/>
                </a:solidFill>
              </a:rPr>
              <a:t>Slicers (platform, month, day, emotion) return consistent totals across all 5 dashboard pages.</a:t>
            </a:r>
          </a:p>
        </p:txBody>
      </p:sp>
      <p:sp>
        <p:nvSpPr>
          <p:cNvPr id="12" name="Google Shape;215;p11">
            <a:extLst>
              <a:ext uri="{FF2B5EF4-FFF2-40B4-BE49-F238E27FC236}">
                <a16:creationId xmlns:a16="http://schemas.microsoft.com/office/drawing/2014/main" id="{403575F6-96AC-69EA-C0CF-899BB331573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13" name="Google Shape;216;p11">
            <a:extLst>
              <a:ext uri="{FF2B5EF4-FFF2-40B4-BE49-F238E27FC236}">
                <a16:creationId xmlns:a16="http://schemas.microsoft.com/office/drawing/2014/main" id="{0D129435-3374-42A2-8254-28763DB632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17;p11">
            <a:extLst>
              <a:ext uri="{FF2B5EF4-FFF2-40B4-BE49-F238E27FC236}">
                <a16:creationId xmlns:a16="http://schemas.microsoft.com/office/drawing/2014/main" id="{0CAF12CC-0EC9-07F7-FE1A-609D0AD9B8A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5" name="Google Shape;110;p1">
            <a:extLst>
              <a:ext uri="{FF2B5EF4-FFF2-40B4-BE49-F238E27FC236}">
                <a16:creationId xmlns:a16="http://schemas.microsoft.com/office/drawing/2014/main" id="{A665E909-479F-C3B6-9EDC-D099602F6AE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DashPostsVolume">
            <a:extLst>
              <a:ext uri="{FF2B5EF4-FFF2-40B4-BE49-F238E27FC236}">
                <a16:creationId xmlns:a16="http://schemas.microsoft.com/office/drawing/2014/main" id="{1FE2B1A8-6B6B-D341-40EE-A3FBA3109A1C}"/>
              </a:ext>
            </a:extLst>
          </p:cNvPr>
          <p:cNvPicPr preferRelativeResize="0"/>
          <p:nvPr/>
        </p:nvPicPr>
        <p:blipFill>
          <a:blip r:embed="rId4"/>
          <a:srcRect t="2243" b="2243"/>
          <a:stretch/>
        </p:blipFill>
        <p:spPr>
          <a:xfrm>
            <a:off x="6204713" y="1642356"/>
            <a:ext cx="5987287" cy="3257091"/>
          </a:xfrm>
          <a:prstGeom prst="roundRect">
            <a:avLst>
              <a:gd name="adj" fmla="val 2000"/>
            </a:avLst>
          </a:prstGeom>
          <a:ln w="19050">
            <a:solidFill>
              <a:srgbClr val="336EA8"/>
            </a:solidFill>
          </a:ln>
        </p:spPr>
      </p:pic>
    </p:spTree>
    <p:extLst>
      <p:ext uri="{BB962C8B-B14F-4D97-AF65-F5344CB8AC3E}">
        <p14:creationId xmlns:p14="http://schemas.microsoft.com/office/powerpoint/2010/main" val="22729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ectionTitle"/>
          <p:cNvSpPr txBox="1"/>
          <p:nvPr/>
        </p:nvSpPr>
        <p:spPr>
          <a:xfrm>
            <a:off x="1016453" y="1217387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200" b="1" dirty="0">
                <a:solidFill>
                  <a:srgbClr val="047954"/>
                </a:solidFill>
              </a:rPr>
              <a:t>Deliverables</a:t>
            </a:r>
          </a:p>
        </p:txBody>
      </p:sp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600000"/>
            <a:ext cx="61976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Three Jupyter notebooks – Bronze, Silver, and Gold layers with full transformation logic.</a:t>
            </a:r>
          </a:p>
          <a:p>
            <a:pPr marL="228600" lvl="0" indent="-228600" algn="l" rtl="0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Star-schema CSV exports – fact_posts plus 9 dimension tables, ready for BI tools.</a:t>
            </a:r>
          </a:p>
          <a:p>
            <a:pPr marL="228600" lvl="0" indent="-228600" algn="l" rtl="0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5-page interactive Power BI dashboard (.pbix) with DAX measures and drill-through filters.</a:t>
            </a:r>
          </a:p>
          <a:p>
            <a:pPr marL="228600" lvl="0" indent="-228600" algn="l" rtl="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Final project report and this presentation, documenting the pipeline end to end.</a:t>
            </a:r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151682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1-  Notebooks &amp; Data</a:t>
            </a:r>
          </a:p>
        </p:txBody>
      </p:sp>
      <p:sp>
        <p:nvSpPr>
          <p:cNvPr id="206" name="Google Shape;206;p10"/>
          <p:cNvSpPr/>
          <p:nvPr/>
        </p:nvSpPr>
        <p:spPr>
          <a:xfrm>
            <a:off x="7326052" y="3048899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2-  Power BI Dashboard</a:t>
            </a:r>
          </a:p>
        </p:txBody>
      </p:sp>
      <p:sp>
        <p:nvSpPr>
          <p:cNvPr id="207" name="Google Shape;207;p10"/>
          <p:cNvSpPr/>
          <p:nvPr/>
        </p:nvSpPr>
        <p:spPr>
          <a:xfrm>
            <a:off x="7326052" y="4345501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3-  Report &amp; Slides</a:t>
            </a: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988200" y="943650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Project Team &amp; Roles</a:t>
            </a:r>
          </a:p>
        </p:txBody>
      </p:sp>
      <p:sp>
        <p:nvSpPr>
          <p:cNvPr id="400" name="TeamCard1"/>
          <p:cNvSpPr/>
          <p:nvPr/>
        </p:nvSpPr>
        <p:spPr>
          <a:xfrm>
            <a:off x="838200" y="1700000"/>
            <a:ext cx="3583898" cy="3600000"/>
          </a:xfrm>
          <a:prstGeom prst="roundRect">
            <a:avLst>
              <a:gd name="adj" fmla="val 5000"/>
            </a:avLst>
          </a:prstGeom>
          <a:solidFill>
            <a:srgbClr val="EAF5F0"/>
          </a:solidFill>
          <a:ln>
            <a:noFill/>
          </a:ln>
        </p:spPr>
        <p:txBody>
          <a:bodyPr wrap="square" lIns="274638" tIns="228600" rIns="274638" bIns="22860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FAB7D"/>
                </a:solidFill>
                <a:latin typeface="Aptos" panose="020B0004020202020204" pitchFamily="34" charset="0"/>
              </a:rPr>
              <a:t>Omar Khaled</a:t>
            </a:r>
            <a:br>
              <a:rPr lang="en-US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1800" i="1" dirty="0">
                <a:solidFill>
                  <a:srgbClr val="336EA8"/>
                </a:solidFill>
                <a:latin typeface="Aptos" panose="020B0004020202020204" pitchFamily="34" charset="0"/>
              </a:rPr>
              <a:t>Data Analytics Specialist</a:t>
            </a:r>
            <a:br>
              <a:rPr lang="en-US" sz="1800" dirty="0">
                <a:latin typeface="Aptos" panose="020B0004020202020204" pitchFamily="34" charset="0"/>
              </a:rPr>
            </a:br>
            <a:r>
              <a:rPr lang="en-US" sz="1800" dirty="0"/>
              <a:t>Built the full pipeline (Bronze/Silver/Gold) and the Power BI dashboard.</a:t>
            </a:r>
            <a:endParaRPr lang="en-US" sz="1800" dirty="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sp>
        <p:nvSpPr>
          <p:cNvPr id="401" name="TeamCard2"/>
          <p:cNvSpPr/>
          <p:nvPr/>
        </p:nvSpPr>
        <p:spPr>
          <a:xfrm>
            <a:off x="4780037" y="1746825"/>
            <a:ext cx="3197803" cy="360000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</p:spPr>
        <p:txBody>
          <a:bodyPr wrap="square" lIns="274638" tIns="228600" rIns="274638" bIns="22860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 err="1">
                <a:solidFill>
                  <a:srgbClr val="0FAB7D"/>
                </a:solidFill>
                <a:latin typeface="Aptos" panose="020B0004020202020204" pitchFamily="34" charset="0"/>
              </a:rPr>
              <a:t>Abdalrahman</a:t>
            </a:r>
            <a:r>
              <a:rPr lang="en-US" sz="1800" b="1" dirty="0">
                <a:solidFill>
                  <a:srgbClr val="0FAB7D"/>
                </a:solidFill>
                <a:latin typeface="Aptos" panose="020B0004020202020204" pitchFamily="34" charset="0"/>
              </a:rPr>
              <a:t> Maher</a:t>
            </a:r>
            <a:br>
              <a:rPr lang="en-US" sz="1800" dirty="0">
                <a:latin typeface="Aptos" panose="020B0004020202020204" pitchFamily="34" charset="0"/>
              </a:rPr>
            </a:br>
            <a:r>
              <a:rPr lang="en-US" sz="1800" i="1" dirty="0">
                <a:solidFill>
                  <a:srgbClr val="336EA8"/>
                </a:solidFill>
                <a:latin typeface="Aptos" panose="020B0004020202020204" pitchFamily="34" charset="0"/>
              </a:rPr>
              <a:t>Data Analytics Specialist</a:t>
            </a:r>
            <a:br>
              <a:rPr lang="en-US" sz="1800" dirty="0">
                <a:latin typeface="Aptos" panose="020B0004020202020204" pitchFamily="34" charset="0"/>
              </a:rPr>
            </a:br>
            <a:r>
              <a:rPr lang="en-US" sz="1800" dirty="0"/>
              <a:t>Led the EDA and built the AI misinformation-risk model.</a:t>
            </a:r>
            <a:endParaRPr lang="en-US" sz="1800" dirty="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sp>
        <p:nvSpPr>
          <p:cNvPr id="402" name="TeamNote"/>
          <p:cNvSpPr txBox="1"/>
          <p:nvPr/>
        </p:nvSpPr>
        <p:spPr>
          <a:xfrm>
            <a:off x="838200" y="5450000"/>
            <a:ext cx="105156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Each team member led a distinct phase of the project – from pipeline engineering, to analysis and modeling, to the final design experience</a:t>
            </a:r>
            <a:r>
              <a:rPr lang="en-US" dirty="0"/>
              <a:t>.</a:t>
            </a:r>
            <a:endParaRPr lang="en-US" i="1" dirty="0">
              <a:solidFill>
                <a:srgbClr val="595959"/>
              </a:solidFill>
            </a:endParaRPr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amCard1">
            <a:extLst>
              <a:ext uri="{FF2B5EF4-FFF2-40B4-BE49-F238E27FC236}">
                <a16:creationId xmlns:a16="http://schemas.microsoft.com/office/drawing/2014/main" id="{1D10491D-6B76-B7E4-5AEC-42EC8B74C37A}"/>
              </a:ext>
            </a:extLst>
          </p:cNvPr>
          <p:cNvSpPr/>
          <p:nvPr/>
        </p:nvSpPr>
        <p:spPr>
          <a:xfrm>
            <a:off x="8335780" y="1746825"/>
            <a:ext cx="3583898" cy="3600000"/>
          </a:xfrm>
          <a:prstGeom prst="roundRect">
            <a:avLst>
              <a:gd name="adj" fmla="val 5000"/>
            </a:avLst>
          </a:prstGeom>
          <a:solidFill>
            <a:srgbClr val="EAF5F0"/>
          </a:solidFill>
          <a:ln>
            <a:noFill/>
          </a:ln>
        </p:spPr>
        <p:txBody>
          <a:bodyPr wrap="square" lIns="274638" tIns="228600" rIns="274638" bIns="22860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 err="1">
                <a:solidFill>
                  <a:srgbClr val="0FAB7D"/>
                </a:solidFill>
                <a:latin typeface="Aptos" panose="020B0004020202020204" pitchFamily="34" charset="0"/>
              </a:rPr>
              <a:t>Refka</a:t>
            </a:r>
            <a:r>
              <a:rPr lang="en-US" sz="1800" b="1" dirty="0">
                <a:solidFill>
                  <a:srgbClr val="0FAB7D"/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 err="1">
                <a:solidFill>
                  <a:srgbClr val="0FAB7D"/>
                </a:solidFill>
                <a:latin typeface="Aptos" panose="020B0004020202020204" pitchFamily="34" charset="0"/>
              </a:rPr>
              <a:t>Maged</a:t>
            </a:r>
            <a:br>
              <a:rPr lang="en-US" sz="1800" dirty="0">
                <a:latin typeface="Aptos" panose="020B0004020202020204" pitchFamily="34" charset="0"/>
              </a:rPr>
            </a:br>
            <a:r>
              <a:rPr lang="en-US" sz="1800" i="1" dirty="0">
                <a:solidFill>
                  <a:srgbClr val="336EA8"/>
                </a:solidFill>
                <a:latin typeface="Aptos" panose="020B0004020202020204" pitchFamily="34" charset="0"/>
              </a:rPr>
              <a:t>UI/UX Designer</a:t>
            </a:r>
            <a:br>
              <a:rPr lang="en-US" sz="1800" dirty="0">
                <a:latin typeface="Aptos" panose="020B0004020202020204" pitchFamily="34" charset="0"/>
              </a:rPr>
            </a:br>
            <a:r>
              <a:rPr lang="en-US" sz="1800" dirty="0"/>
              <a:t>Designed the dashboard's UI/UX using Figma</a:t>
            </a:r>
            <a:r>
              <a:rPr lang="en-US" sz="2400" dirty="0"/>
              <a:t>.</a:t>
            </a:r>
            <a:endParaRPr lang="en-US" sz="1600" dirty="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hankYouTitle"/>
          <p:cNvSpPr txBox="1"/>
          <p:nvPr/>
        </p:nvSpPr>
        <p:spPr>
          <a:xfrm>
            <a:off x="838200" y="2400000"/>
            <a:ext cx="105156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047954"/>
                </a:solidFill>
              </a:rPr>
              <a:t>Thank You!</a:t>
            </a:r>
          </a:p>
        </p:txBody>
      </p:sp>
      <p:sp>
        <p:nvSpPr>
          <p:cNvPr id="501" name="ThankYouSub"/>
          <p:cNvSpPr txBox="1"/>
          <p:nvPr/>
        </p:nvSpPr>
        <p:spPr>
          <a:xfrm>
            <a:off x="838200" y="3650000"/>
            <a:ext cx="105156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336EA8"/>
                </a:solidFill>
              </a:rPr>
              <a:t>Questions &amp; Feedback Welcome</a:t>
            </a:r>
          </a:p>
          <a:p>
            <a:pPr algn="ctr">
              <a:buNone/>
            </a:pPr>
            <a:r>
              <a:rPr lang="en-US" sz="1300" dirty="0">
                <a:solidFill>
                  <a:srgbClr val="595959"/>
                </a:solidFill>
              </a:rPr>
              <a:t>Social Media Crisis Analytics  – DEPI Graduation Project</a:t>
            </a:r>
          </a:p>
        </p:txBody>
      </p:sp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07/01/2026</a:t>
            </a:r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816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Aptos</vt:lpstr>
      <vt:lpstr>inherit</vt:lpstr>
      <vt:lpstr>Office Theme</vt:lpstr>
      <vt:lpstr>Social Media Crisis Analytics </vt:lpstr>
      <vt:lpstr>PowerPoint Presentation</vt:lpstr>
      <vt:lpstr>PowerPoint Presentation</vt:lpstr>
      <vt:lpstr>Medallion Architecture</vt:lpstr>
      <vt:lpstr>Data Structure</vt:lpstr>
      <vt:lpstr>Analysis Requirements and 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عبدالرحمن ماهر احمد مهنى</cp:lastModifiedBy>
  <cp:revision>8</cp:revision>
  <dcterms:created xsi:type="dcterms:W3CDTF">2024-03-14T10:03:54Z</dcterms:created>
  <dcterms:modified xsi:type="dcterms:W3CDTF">2026-07-10T19:33:44Z</dcterms:modified>
</cp:coreProperties>
</file>